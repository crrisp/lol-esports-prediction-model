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79D9F8"/>
    <a:srgbClr val="C79B3B"/>
    <a:srgbClr val="B17839"/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E8328-B595-AA9D-9BBA-1FDF2BEA5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623C71-7879-F6F5-5FE1-FD7EE57A8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4CC6-5DA8-A957-9803-D642B889E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AE5E-0EE1-4392-BB96-5E2AD7B1A912}" type="datetimeFigureOut">
              <a:rPr lang="en-GB" smtClean="0"/>
              <a:t>2025-12-05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FF22A-FE95-03A8-B09D-1E1C487D5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76065-C1A5-7558-D2B4-EF993C378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E2AC-C4AA-4455-BD9A-4A67465F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1000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CC385-206A-B909-CAB7-EE3628CFC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427B7-B66E-1F52-6884-32A6DC448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F1BAF-BB05-3557-9B9B-EBCE1A9DE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AE5E-0EE1-4392-BB96-5E2AD7B1A912}" type="datetimeFigureOut">
              <a:rPr lang="en-GB" smtClean="0"/>
              <a:t>2025-12-05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D6E7D-857F-87DB-10AC-3EF153198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9FE13-7249-A705-B844-05CC100DD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E2AC-C4AA-4455-BD9A-4A67465F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588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A8A31-27F8-BDD4-0973-EAF5650B8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5AB86-12E3-6B07-7E6B-7AF690FD0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2F83B-985C-343D-98F4-BFC05993C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AE5E-0EE1-4392-BB96-5E2AD7B1A912}" type="datetimeFigureOut">
              <a:rPr lang="en-GB" smtClean="0"/>
              <a:t>2025-12-05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C94A4-9F91-E2EC-ACC5-B8D4A26F0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A4C8A-6662-0C46-FC7C-FD1BBB433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E2AC-C4AA-4455-BD9A-4A67465F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6251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57200-8FE9-21DD-CA9E-39505EAEA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6AACD-37C3-6184-672C-1C24FF170A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82573-40A7-6994-472A-A2E069F117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9BA6ED-5081-3D46-A522-E9C53E2D8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AE5E-0EE1-4392-BB96-5E2AD7B1A912}" type="datetimeFigureOut">
              <a:rPr lang="en-GB" smtClean="0"/>
              <a:t>2025-12-05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0DFC2-EE05-1E1E-2358-7FF9A542B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49206-91A4-7A5B-ADA0-0D4909E2B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E2AC-C4AA-4455-BD9A-4A67465F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5366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EB6B0-6628-2113-0A6B-31DB8427F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936B5-CEF3-46A4-1AE0-035812A76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A5D8B-6949-49C4-5D49-2EE2122CEB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DCB609-B615-3845-A74A-6ABF68582E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ACD869-7C51-8AF5-C2B2-0F743D2C55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B93EB8-040F-22C3-D5EF-28C4FB8E8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AE5E-0EE1-4392-BB96-5E2AD7B1A912}" type="datetimeFigureOut">
              <a:rPr lang="en-GB" smtClean="0"/>
              <a:t>2025-12-05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A33412-0364-64B4-BC52-B1AD3F939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DB0390-1B4B-0F7B-DB4D-15B46B8F0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E2AC-C4AA-4455-BD9A-4A67465F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4541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8F4B9-298E-F631-5013-A847B40E8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350A33-C9DC-6C5C-6FD1-28B3B8BEC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AE5E-0EE1-4392-BB96-5E2AD7B1A912}" type="datetimeFigureOut">
              <a:rPr lang="en-GB" smtClean="0"/>
              <a:t>2025-12-05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6C70EA-8932-CB6F-14A3-D966E0131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1DB9B-AF3C-AB72-B7E8-8C501ABD6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E2AC-C4AA-4455-BD9A-4A67465F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254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5DDE7C-05BB-5D57-7377-802CB2950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AE5E-0EE1-4392-BB96-5E2AD7B1A912}" type="datetimeFigureOut">
              <a:rPr lang="en-GB" smtClean="0"/>
              <a:t>2025-12-05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A282DB-848C-A016-810D-B8CF9712D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ABBC1-0292-AFEF-C0D2-86EE4A096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E2AC-C4AA-4455-BD9A-4A67465F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3015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E50FD-1428-FDB6-AFFE-AF34C6878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CA64A-2259-CB66-B8CF-FB943F16E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3D02FF-5740-571C-EC64-318D52137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C55D5-438B-A71E-6DB7-B7A648E49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AE5E-0EE1-4392-BB96-5E2AD7B1A912}" type="datetimeFigureOut">
              <a:rPr lang="en-GB" smtClean="0"/>
              <a:t>2025-12-05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1E036-4C7F-3170-34C7-68BF82278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300C5-614F-3BDD-4389-D9273E460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E2AC-C4AA-4455-BD9A-4A67465F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5712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459C-71F2-EE3C-7E48-C9D0339D0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443008-62CB-98FB-376F-270C888EE2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218DA4-D452-8B48-37D0-45E7BE08C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AA486-0795-2217-596C-B93FDF241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AE5E-0EE1-4392-BB96-5E2AD7B1A912}" type="datetimeFigureOut">
              <a:rPr lang="en-GB" smtClean="0"/>
              <a:t>2025-12-05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C90BA-C9E7-57F7-9302-43FF3FD66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1B8EF4-765F-FDF4-3B0B-77F8C81BD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E2AC-C4AA-4455-BD9A-4A67465F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483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4269F-3CED-F05B-30CE-77C870630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D5946-4B9E-3E46-BD15-C3EB1403FA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35428-6235-76AB-6CA1-32D7B7DDC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AE5E-0EE1-4392-BB96-5E2AD7B1A912}" type="datetimeFigureOut">
              <a:rPr lang="en-GB" smtClean="0"/>
              <a:t>2025-12-05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D37E5-3C85-8B18-5C0A-D80699D37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857D5-CF13-DC2F-A13C-783376665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E2AC-C4AA-4455-BD9A-4A67465F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3107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9A53B4-726A-DF2C-D80E-2E1B0C942B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EE10C-E396-D2E9-4B91-8B8093E65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E380B-379A-ECD2-3EE6-AB8B9B74D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AE5E-0EE1-4392-BB96-5E2AD7B1A912}" type="datetimeFigureOut">
              <a:rPr lang="en-GB" smtClean="0"/>
              <a:t>2025-12-05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86750-9A09-3217-CC93-5E3EA70B6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338A6-F62B-5060-66E8-880970321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1E2AC-C4AA-4455-BD9A-4A67465F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8387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2000" t="-2000" r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8608AE-D399-A311-C73D-483F2AF6C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9A63F5-A8CD-4F3F-C286-6AF1F3F39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F8C19-4612-422D-8377-C5CB731B81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44AE5E-0EE1-4392-BB96-5E2AD7B1A912}" type="datetimeFigureOut">
              <a:rPr lang="en-GB" smtClean="0"/>
              <a:t>2025-12-05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A302C-44E3-02A5-6B66-EC965287E0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CBCB8-263B-1907-8EF4-763A943E1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71E2AC-C4AA-4455-BD9A-4A67465F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2563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t="-2000" r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9C379-6D71-6E06-948D-4A8907D59C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8329" y="1656644"/>
            <a:ext cx="5255342" cy="2285412"/>
          </a:xfrm>
        </p:spPr>
        <p:txBody>
          <a:bodyPr anchor="ctr">
            <a:noAutofit/>
          </a:bodyPr>
          <a:lstStyle/>
          <a:p>
            <a:r>
              <a:rPr lang="en-GB" sz="7200" dirty="0">
                <a:ln>
                  <a:solidFill>
                    <a:schemeClr val="tx1"/>
                  </a:solidFill>
                </a:ln>
                <a:solidFill>
                  <a:srgbClr val="79D9F8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bas Neue" panose="020B0606020202050201" pitchFamily="34" charset="0"/>
              </a:rPr>
              <a:t>The Power of 900 Seconds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37EF33-6F75-FCDD-98A5-4C50C04CBC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4038" y="4388619"/>
            <a:ext cx="6803923" cy="1655762"/>
          </a:xfrm>
        </p:spPr>
        <p:txBody>
          <a:bodyPr/>
          <a:lstStyle/>
          <a:p>
            <a:r>
              <a:rPr lang="en-GB" dirty="0">
                <a:solidFill>
                  <a:srgbClr val="EAEA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Predicting the outcome of League of Legends Esports matches at the 15</a:t>
            </a:r>
            <a:r>
              <a:rPr lang="en-GB" baseline="30000" dirty="0">
                <a:solidFill>
                  <a:srgbClr val="EAEA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th</a:t>
            </a:r>
            <a:r>
              <a:rPr lang="en-GB" dirty="0">
                <a:solidFill>
                  <a:srgbClr val="EAEA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 minute.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8870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2DF4EF-11CB-6A0C-07D5-55AA12369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6000" dirty="0">
                <a:ln>
                  <a:solidFill>
                    <a:schemeClr val="tx1"/>
                  </a:solidFill>
                </a:ln>
                <a:solidFill>
                  <a:srgbClr val="79D9F8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bas Neue" panose="020B0606020202050201" pitchFamily="34" charset="0"/>
              </a:rPr>
              <a:t>Why?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D2908F-04EC-C632-0518-72ABED89DA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>
                <a:ln w="3175">
                  <a:noFill/>
                </a:ln>
                <a:solidFill>
                  <a:srgbClr val="EAEA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It’s a very popular game.</a:t>
            </a:r>
          </a:p>
          <a:p>
            <a:r>
              <a:rPr lang="en-GB" dirty="0">
                <a:ln w="3175">
                  <a:noFill/>
                </a:ln>
                <a:solidFill>
                  <a:srgbClr val="EAEA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It’s a game I have played and watched a lot in the last few years.</a:t>
            </a:r>
          </a:p>
          <a:p>
            <a:r>
              <a:rPr lang="en-GB" dirty="0">
                <a:ln w="3175">
                  <a:noFill/>
                </a:ln>
                <a:solidFill>
                  <a:srgbClr val="EAEA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Making predictions is a core, fun aspect of watching sports/esports.</a:t>
            </a:r>
          </a:p>
          <a:p>
            <a:r>
              <a:rPr lang="en-GB" dirty="0">
                <a:ln w="3175">
                  <a:noFill/>
                </a:ln>
                <a:solidFill>
                  <a:srgbClr val="EAEA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A model can uncover some interesting matches…</a:t>
            </a:r>
          </a:p>
          <a:p>
            <a:endParaRPr lang="en-GB" dirty="0">
              <a:ln w="3175">
                <a:noFill/>
              </a:ln>
              <a:solidFill>
                <a:srgbClr val="EAEAE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2B71CB-F61A-D315-9D37-DC43DD8B5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6400" y="1825625"/>
            <a:ext cx="3214206" cy="3938894"/>
          </a:xfrm>
          <a:prstGeom prst="rect">
            <a:avLst/>
          </a:prstGeom>
          <a:ln w="19050">
            <a:solidFill>
              <a:srgbClr val="79D9F8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F1DA85-B272-C274-1BAB-A3C4084C86FB}"/>
              </a:ext>
            </a:extLst>
          </p:cNvPr>
          <p:cNvSpPr txBox="1"/>
          <p:nvPr/>
        </p:nvSpPr>
        <p:spPr>
          <a:xfrm>
            <a:off x="7036444" y="5784183"/>
            <a:ext cx="34727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Oswald" pitchFamily="2" charset="0"/>
              </a:rPr>
              <a:t>Source: escharts.com/games/lol</a:t>
            </a:r>
          </a:p>
        </p:txBody>
      </p:sp>
    </p:spTree>
    <p:extLst>
      <p:ext uri="{BB962C8B-B14F-4D97-AF65-F5344CB8AC3E}">
        <p14:creationId xmlns:p14="http://schemas.microsoft.com/office/powerpoint/2010/main" val="1894721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47977-6819-A44A-C4E0-F957CCCE5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6000" dirty="0">
                <a:ln>
                  <a:solidFill>
                    <a:schemeClr val="tx1"/>
                  </a:solidFill>
                </a:ln>
                <a:solidFill>
                  <a:srgbClr val="79D9F8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bas Neue" panose="020B0606020202050201" pitchFamily="34" charset="0"/>
              </a:rPr>
              <a:t>What is league of legends?</a:t>
            </a:r>
          </a:p>
        </p:txBody>
      </p:sp>
      <p:pic>
        <p:nvPicPr>
          <p:cNvPr id="10" name="Picture 9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752A50D3-7521-A10A-EB45-C1CFA8E3E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5577744" cy="4802187"/>
          </a:xfrm>
          <a:prstGeom prst="rect">
            <a:avLst/>
          </a:prstGeom>
          <a:ln w="19050">
            <a:solidFill>
              <a:srgbClr val="79D9F8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C5B9749-F6C0-BA5A-B8D4-C8F41381C021}"/>
              </a:ext>
            </a:extLst>
          </p:cNvPr>
          <p:cNvSpPr txBox="1"/>
          <p:nvPr/>
        </p:nvSpPr>
        <p:spPr>
          <a:xfrm>
            <a:off x="6762333" y="1690688"/>
            <a:ext cx="424507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C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Gold</a:t>
            </a:r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 is earned from killing minions and enemy players.</a:t>
            </a:r>
          </a:p>
          <a:p>
            <a:endParaRPr lang="en-GB" dirty="0">
              <a:solidFill>
                <a:srgbClr val="EAEAEA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r>
              <a:rPr lang="en-GB" dirty="0">
                <a:solidFill>
                  <a:srgbClr val="FFC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Gold</a:t>
            </a:r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 can be used to buy </a:t>
            </a:r>
            <a:r>
              <a:rPr lang="en-GB" dirty="0">
                <a:solidFill>
                  <a:srgbClr val="00B0F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items</a:t>
            </a:r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  <a:p>
            <a:endParaRPr lang="en-GB" dirty="0">
              <a:solidFill>
                <a:srgbClr val="EAEAEA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r>
              <a:rPr lang="en-GB" dirty="0">
                <a:solidFill>
                  <a:srgbClr val="00B0F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Items</a:t>
            </a:r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 make a character </a:t>
            </a:r>
            <a:r>
              <a:rPr lang="en-GB" dirty="0">
                <a:solidFill>
                  <a:srgbClr val="C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stronger</a:t>
            </a:r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  <a:p>
            <a:endParaRPr lang="en-GB" dirty="0">
              <a:solidFill>
                <a:srgbClr val="EAEAEA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More </a:t>
            </a:r>
            <a:r>
              <a:rPr lang="en-GB" dirty="0">
                <a:solidFill>
                  <a:srgbClr val="FFC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gold</a:t>
            </a:r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 = </a:t>
            </a:r>
            <a:r>
              <a:rPr lang="en-GB" dirty="0">
                <a:solidFill>
                  <a:srgbClr val="C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Stronger</a:t>
            </a:r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 characters.</a:t>
            </a:r>
          </a:p>
          <a:p>
            <a:endParaRPr lang="en-GB" dirty="0">
              <a:solidFill>
                <a:srgbClr val="EAEAEA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r>
              <a:rPr lang="en-GB" dirty="0">
                <a:solidFill>
                  <a:srgbClr val="C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Stronger</a:t>
            </a:r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 characters = more fights won.</a:t>
            </a:r>
          </a:p>
          <a:p>
            <a:endParaRPr lang="en-GB" dirty="0">
              <a:solidFill>
                <a:srgbClr val="EAEAEA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More fights won = Push further into enemy base.</a:t>
            </a:r>
          </a:p>
          <a:p>
            <a:endParaRPr lang="en-GB" dirty="0">
              <a:solidFill>
                <a:srgbClr val="EAEAEA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Push further into enemy base = </a:t>
            </a:r>
            <a:r>
              <a:rPr lang="en-GB" dirty="0">
                <a:solidFill>
                  <a:srgbClr val="92D05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win the game</a:t>
            </a:r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399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3098-69A6-2065-8BA8-7F2C3112F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6000" dirty="0">
                <a:ln>
                  <a:solidFill>
                    <a:schemeClr val="tx1"/>
                  </a:solidFill>
                </a:ln>
                <a:solidFill>
                  <a:srgbClr val="79D9F8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bas Neue" panose="020B0606020202050201" pitchFamily="34" charset="0"/>
              </a:rPr>
              <a:t>What’s being explored?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7704A-11DF-E8A5-0251-8B422F800B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Does a lead at 15 minutes translate into a win?</a:t>
            </a:r>
          </a:p>
          <a:p>
            <a:pPr lvl="1"/>
            <a:r>
              <a:rPr lang="en-GB" sz="2000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Average game duration was </a:t>
            </a:r>
            <a:r>
              <a:rPr lang="en-GB" sz="2000" dirty="0">
                <a:solidFill>
                  <a:srgbClr val="79D9F8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32:51</a:t>
            </a:r>
          </a:p>
          <a:p>
            <a:endParaRPr lang="en-GB" sz="2400" dirty="0">
              <a:solidFill>
                <a:srgbClr val="EAEAEA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r>
              <a:rPr lang="en-GB" sz="2400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Which metrics influence win probability the most?</a:t>
            </a:r>
          </a:p>
          <a:p>
            <a:endParaRPr lang="en-GB" sz="2400" dirty="0">
              <a:solidFill>
                <a:srgbClr val="EAEAEA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r>
              <a:rPr lang="en-GB" sz="2400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Finding interesting matches…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3CF147-CF80-31A7-E6A7-94426ED61B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Data obtained from Oracle’s Elixir.</a:t>
            </a:r>
          </a:p>
          <a:p>
            <a:endParaRPr lang="en-GB" sz="2400" dirty="0">
              <a:solidFill>
                <a:srgbClr val="EAEAEA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r>
              <a:rPr lang="en-GB" sz="2400" dirty="0">
                <a:solidFill>
                  <a:srgbClr val="EAEA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Using 2025 esports matches from the 4 3 major leagues + Worlds and MSI.</a:t>
            </a:r>
          </a:p>
          <a:p>
            <a:endParaRPr lang="en-GB" dirty="0">
              <a:solidFill>
                <a:srgbClr val="EAEAEA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r>
              <a:rPr lang="en-GB" sz="2400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Using a range of models and comparing performance.</a:t>
            </a:r>
          </a:p>
          <a:p>
            <a:pPr lvl="1"/>
            <a:r>
              <a:rPr lang="en-GB" sz="2000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Logistic Regression</a:t>
            </a:r>
          </a:p>
          <a:p>
            <a:pPr lvl="1"/>
            <a:r>
              <a:rPr lang="en-GB" sz="2000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Random Forest</a:t>
            </a:r>
          </a:p>
          <a:p>
            <a:pPr lvl="1"/>
            <a:r>
              <a:rPr lang="en-GB" sz="2000" dirty="0" err="1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LightGBM</a:t>
            </a:r>
            <a:endParaRPr lang="en-GB" sz="2000" dirty="0">
              <a:solidFill>
                <a:srgbClr val="EAEAEA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535E81-C603-C174-102D-B8EBD4242F50}"/>
              </a:ext>
            </a:extLst>
          </p:cNvPr>
          <p:cNvCxnSpPr>
            <a:cxnSpLocks/>
          </p:cNvCxnSpPr>
          <p:nvPr/>
        </p:nvCxnSpPr>
        <p:spPr>
          <a:xfrm>
            <a:off x="11088329" y="2799736"/>
            <a:ext cx="189271" cy="27776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177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08206-999D-1015-3677-E905FA09A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6000" dirty="0">
                <a:ln>
                  <a:solidFill>
                    <a:schemeClr val="tx1"/>
                  </a:solidFill>
                </a:ln>
                <a:solidFill>
                  <a:srgbClr val="79D9F8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bas Neue" panose="020B0606020202050201" pitchFamily="34" charset="0"/>
              </a:rPr>
              <a:t>Modelling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724A81-AA02-5740-C39A-22F00AB10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GB" sz="3200" dirty="0">
                <a:ln w="3175">
                  <a:solidFill>
                    <a:schemeClr val="tx1"/>
                  </a:solidFill>
                </a:ln>
                <a:solidFill>
                  <a:srgbClr val="79D9F8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Montserrat" pitchFamily="2" charset="0"/>
              </a:rPr>
              <a:t>Base Model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DD4204-5E2C-B82D-B9C7-7A08B11404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1238 matches.</a:t>
            </a:r>
          </a:p>
          <a:p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Features:</a:t>
            </a:r>
          </a:p>
          <a:p>
            <a:pPr lvl="1"/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First Kill</a:t>
            </a:r>
          </a:p>
          <a:p>
            <a:pPr lvl="1"/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First Dragon</a:t>
            </a:r>
          </a:p>
          <a:p>
            <a:pPr lvl="1"/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Void Grub Count (per team)</a:t>
            </a:r>
          </a:p>
          <a:p>
            <a:pPr lvl="1"/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Gold, XP, CS Difference @ 15</a:t>
            </a:r>
          </a:p>
          <a:p>
            <a:pPr lvl="1"/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Kills @ 15 (per team)</a:t>
            </a:r>
          </a:p>
          <a:p>
            <a:pPr lvl="1"/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Turret Plate Count (per team)</a:t>
            </a:r>
          </a:p>
          <a:p>
            <a:pPr lvl="1"/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Region (per team)</a:t>
            </a:r>
          </a:p>
          <a:p>
            <a:pPr lvl="1"/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2E0713-E218-0C0C-1978-F4F6A8F394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GB" sz="3200" dirty="0">
                <a:ln w="3175">
                  <a:solidFill>
                    <a:schemeClr val="tx1"/>
                  </a:solidFill>
                </a:ln>
                <a:solidFill>
                  <a:srgbClr val="79D9F8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Montserrat" pitchFamily="2" charset="0"/>
              </a:rPr>
              <a:t>Improved Model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C728ED7-8F74-2368-0CD1-2A8DE46B7DF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Everything in the base model plus:</a:t>
            </a:r>
          </a:p>
          <a:p>
            <a:pPr lvl="1"/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Region Strength (per team)</a:t>
            </a:r>
          </a:p>
          <a:p>
            <a:pPr lvl="1"/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Win Rate of Last 10 Matches (per team)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704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04AD0-6FB4-8714-C722-860FA0FF1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6000" dirty="0">
                <a:ln>
                  <a:solidFill>
                    <a:schemeClr val="tx1"/>
                  </a:solidFill>
                </a:ln>
                <a:solidFill>
                  <a:srgbClr val="79D9F8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bas Neue" panose="020B0606020202050201" pitchFamily="34" charset="0"/>
              </a:rPr>
              <a:t>Modelling Part 2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9F10C3-9FF4-89C1-84E4-2BED41D2FD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LightGBM narrowly beat the other models. Initial accuracy was around </a:t>
            </a:r>
            <a:r>
              <a:rPr lang="en-GB" dirty="0">
                <a:solidFill>
                  <a:srgbClr val="C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66%</a:t>
            </a:r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  <a:p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Accuracy was increased to </a:t>
            </a:r>
            <a:r>
              <a:rPr lang="en-GB" dirty="0">
                <a:solidFill>
                  <a:srgbClr val="92D05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70%</a:t>
            </a:r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 after fine-tuning. This wasn’t bad given the nature of the data.</a:t>
            </a:r>
          </a:p>
          <a:p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Overfitting was reduced from </a:t>
            </a:r>
            <a:r>
              <a:rPr lang="en-GB" dirty="0">
                <a:solidFill>
                  <a:srgbClr val="C0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20-25% </a:t>
            </a:r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to </a:t>
            </a:r>
            <a:r>
              <a:rPr lang="en-GB" dirty="0">
                <a:solidFill>
                  <a:srgbClr val="92D05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2-10%</a:t>
            </a:r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  <a:p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6C64BEA-064D-0D80-FE97-36BE2AD1F60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dirty="0">
              <a:solidFill>
                <a:srgbClr val="EAEAE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lvl="1"/>
            <a:endParaRPr lang="en-GB" dirty="0">
              <a:solidFill>
                <a:srgbClr val="EAEAEA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lvl="1"/>
            <a:endParaRPr lang="en-GB" dirty="0">
              <a:solidFill>
                <a:srgbClr val="EAEAEA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lvl="1"/>
            <a:endParaRPr lang="en-GB" dirty="0">
              <a:solidFill>
                <a:srgbClr val="EAEAEA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457200" lvl="1" indent="0">
              <a:buNone/>
            </a:pPr>
            <a:endParaRPr lang="en-GB" dirty="0">
              <a:solidFill>
                <a:srgbClr val="EAEAEA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457200" lvl="1" indent="0">
              <a:buNone/>
            </a:pPr>
            <a:endParaRPr lang="en-GB" dirty="0">
              <a:solidFill>
                <a:srgbClr val="EAEAEA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indent="0">
              <a:buNone/>
            </a:pPr>
            <a:endParaRPr lang="en-GB" dirty="0">
              <a:solidFill>
                <a:srgbClr val="EAEAEA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endParaRPr lang="en-GB" dirty="0">
              <a:solidFill>
                <a:srgbClr val="EAEAEA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endParaRPr lang="en-GB" dirty="0">
              <a:solidFill>
                <a:srgbClr val="EAEAEA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indent="0">
              <a:buNone/>
            </a:pPr>
            <a:endParaRPr lang="en-GB" dirty="0"/>
          </a:p>
          <a:p>
            <a:endParaRPr lang="en-GB" dirty="0">
              <a:solidFill>
                <a:srgbClr val="EAEAEA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084E27A-777E-C660-CA22-EE8FA9CDE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25625"/>
            <a:ext cx="5335798" cy="3503176"/>
          </a:xfrm>
          <a:prstGeom prst="rect">
            <a:avLst/>
          </a:prstGeom>
          <a:ln w="19050">
            <a:solidFill>
              <a:srgbClr val="79D9F8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18584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942B8-45C6-FBA0-5043-E5AF4D127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6000" dirty="0">
                <a:ln>
                  <a:solidFill>
                    <a:schemeClr val="tx1"/>
                  </a:solidFill>
                </a:ln>
                <a:solidFill>
                  <a:srgbClr val="79D9F8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bas Neue" panose="020B0606020202050201" pitchFamily="34" charset="0"/>
              </a:rPr>
              <a:t>My Predictions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BD058C-93B4-C2DB-803F-84BBC9389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GB" sz="3200" dirty="0">
                <a:ln w="3175">
                  <a:solidFill>
                    <a:schemeClr val="tx1"/>
                  </a:solidFill>
                </a:ln>
                <a:solidFill>
                  <a:srgbClr val="79D9F8"/>
                </a:solidFill>
                <a:latin typeface="Montserrat" pitchFamily="2" charset="0"/>
              </a:rPr>
              <a:t>Rules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56029F-FB0B-6369-8789-E35159B961D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Rules for blue win:</a:t>
            </a:r>
          </a:p>
          <a:p>
            <a:pPr lvl="1"/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&gt;1000 gold diff @ 15.</a:t>
            </a:r>
          </a:p>
          <a:p>
            <a:pPr lvl="1"/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&gt;500 gold diff @ 15 and first dragon.</a:t>
            </a:r>
          </a:p>
          <a:p>
            <a:pPr lvl="1"/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&gt;0 gold diff @ 15, first dragon, and more void grubs than opponent.</a:t>
            </a:r>
          </a:p>
          <a:p>
            <a:pPr lvl="1"/>
            <a:r>
              <a:rPr lang="en-GB" dirty="0">
                <a:solidFill>
                  <a:srgbClr val="EAEAEA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&lt;0 gold diff @ 15, first dragon, and 3 or more void grubs over opponent.</a:t>
            </a:r>
          </a:p>
          <a:p>
            <a:endParaRPr lang="en-GB" dirty="0"/>
          </a:p>
          <a:p>
            <a:pPr lvl="1"/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A631D8D-BEAD-7646-169B-63ED6B2D6B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GB" sz="3200" dirty="0">
                <a:ln w="3175">
                  <a:solidFill>
                    <a:schemeClr val="tx1"/>
                  </a:solidFill>
                </a:ln>
                <a:solidFill>
                  <a:srgbClr val="79D9F8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Montserrat" pitchFamily="2" charset="0"/>
              </a:rPr>
              <a:t>Results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38D6F1-A568-6438-114B-5614D106C940}"/>
              </a:ext>
            </a:extLst>
          </p:cNvPr>
          <p:cNvSpPr/>
          <p:nvPr/>
        </p:nvSpPr>
        <p:spPr>
          <a:xfrm>
            <a:off x="6900581" y="2960846"/>
            <a:ext cx="3726425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3800" b="0" cap="none" spc="0" dirty="0">
                <a:ln w="0">
                  <a:solidFill>
                    <a:schemeClr val="tx1"/>
                  </a:solidFill>
                </a:ln>
                <a:solidFill>
                  <a:srgbClr val="92D05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68%</a:t>
            </a:r>
          </a:p>
        </p:txBody>
      </p:sp>
    </p:spTree>
    <p:extLst>
      <p:ext uri="{BB962C8B-B14F-4D97-AF65-F5344CB8AC3E}">
        <p14:creationId xmlns:p14="http://schemas.microsoft.com/office/powerpoint/2010/main" val="2259559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C9916-8574-D4D9-7FFE-C4937FBEB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GB" sz="6000" dirty="0">
                <a:ln>
                  <a:solidFill>
                    <a:schemeClr val="tx1"/>
                  </a:solidFill>
                </a:ln>
                <a:solidFill>
                  <a:srgbClr val="79D9F8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bas Neue" panose="020B0606020202050201" pitchFamily="34" charset="0"/>
              </a:rPr>
              <a:t>Interesting Matches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DF6FEC-2160-43C7-3536-CB3E6C562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rgbClr val="EAEA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Exploring statistically unlikely outcomes</a:t>
            </a:r>
          </a:p>
        </p:txBody>
      </p:sp>
    </p:spTree>
    <p:extLst>
      <p:ext uri="{BB962C8B-B14F-4D97-AF65-F5344CB8AC3E}">
        <p14:creationId xmlns:p14="http://schemas.microsoft.com/office/powerpoint/2010/main" val="3458210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46CF08-99B3-E9F8-E17A-BC9617951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6000" dirty="0">
                <a:ln>
                  <a:solidFill>
                    <a:schemeClr val="tx1"/>
                  </a:solidFill>
                </a:ln>
                <a:solidFill>
                  <a:srgbClr val="79D9F8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bas Neue" panose="020B0606020202050201" pitchFamily="34" charset="0"/>
              </a:rPr>
              <a:t>Example #1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CF4A887-827D-7C42-867B-9AC0FB9B7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solidFill>
                  <a:srgbClr val="EAEA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Largest gold difference for a win that was labelled as a loss.</a:t>
            </a:r>
          </a:p>
          <a:p>
            <a:endParaRPr lang="en-GB" sz="2400" dirty="0">
              <a:solidFill>
                <a:srgbClr val="EAEAE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r>
              <a:rPr lang="en-GB" sz="2400" dirty="0">
                <a:solidFill>
                  <a:srgbClr val="EAEA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Win probability was only 11%.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2425FC-1FFD-17AB-6B58-49BADC009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885" y="2623677"/>
            <a:ext cx="5782915" cy="679308"/>
          </a:xfrm>
          <a:prstGeom prst="rect">
            <a:avLst/>
          </a:prstGeom>
          <a:ln w="19050">
            <a:solidFill>
              <a:srgbClr val="79D9F8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16E235A-9C23-2AB1-D571-1014BBE15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44208"/>
            <a:ext cx="10515600" cy="2732755"/>
          </a:xfrm>
          <a:prstGeom prst="rect">
            <a:avLst/>
          </a:prstGeom>
          <a:ln w="19050">
            <a:solidFill>
              <a:srgbClr val="79D9F8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14D04B5-602C-8398-71C7-F95CB5FED387}"/>
              </a:ext>
            </a:extLst>
          </p:cNvPr>
          <p:cNvSpPr txBox="1"/>
          <p:nvPr/>
        </p:nvSpPr>
        <p:spPr>
          <a:xfrm>
            <a:off x="10365658" y="6185098"/>
            <a:ext cx="18263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EAEA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swald" pitchFamily="2" charset="0"/>
              </a:rPr>
              <a:t>Source: gol.gg</a:t>
            </a:r>
          </a:p>
        </p:txBody>
      </p:sp>
    </p:spTree>
    <p:extLst>
      <p:ext uri="{BB962C8B-B14F-4D97-AF65-F5344CB8AC3E}">
        <p14:creationId xmlns:p14="http://schemas.microsoft.com/office/powerpoint/2010/main" val="1818544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B7F27-26E4-D76F-5533-39DE42930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6000" dirty="0">
                <a:ln>
                  <a:solidFill>
                    <a:schemeClr val="tx1"/>
                  </a:solidFill>
                </a:ln>
                <a:solidFill>
                  <a:srgbClr val="79D9F8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bas Neue" panose="020B0606020202050201" pitchFamily="34" charset="0"/>
              </a:rPr>
              <a:t>example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3B1E5-7856-6439-107C-646938864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63297" cy="1714739"/>
          </a:xfrm>
        </p:spPr>
        <p:txBody>
          <a:bodyPr>
            <a:normAutofit lnSpcReduction="10000"/>
          </a:bodyPr>
          <a:lstStyle/>
          <a:p>
            <a:r>
              <a:rPr lang="en-GB" sz="2400" dirty="0">
                <a:solidFill>
                  <a:srgbClr val="EAEA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Largest win probabilities that ended in a loss.</a:t>
            </a:r>
          </a:p>
          <a:p>
            <a:r>
              <a:rPr lang="en-GB" sz="2400" dirty="0">
                <a:solidFill>
                  <a:srgbClr val="EAEA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</a:rPr>
              <a:t>14 out of top 20 matches in this list involved a Korean team.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4CD094-8D3C-3108-5721-56FD04E63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633" y="1825625"/>
            <a:ext cx="6573167" cy="1714739"/>
          </a:xfrm>
          <a:prstGeom prst="rect">
            <a:avLst/>
          </a:prstGeom>
          <a:ln w="19050">
            <a:solidFill>
              <a:srgbClr val="79D9F8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1EE328-5CB7-3CD2-DE9A-A274CF579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75302"/>
            <a:ext cx="10515600" cy="2817574"/>
          </a:xfrm>
          <a:prstGeom prst="rect">
            <a:avLst/>
          </a:prstGeom>
          <a:ln w="19050">
            <a:solidFill>
              <a:srgbClr val="79D9F8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1E0BA7-5FB2-912C-1BF0-9274F1EAD36E}"/>
              </a:ext>
            </a:extLst>
          </p:cNvPr>
          <p:cNvSpPr txBox="1"/>
          <p:nvPr/>
        </p:nvSpPr>
        <p:spPr>
          <a:xfrm>
            <a:off x="10353368" y="6492875"/>
            <a:ext cx="16911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EAEAEA"/>
                </a:solidFill>
                <a:latin typeface="Oswald" pitchFamily="2" charset="0"/>
              </a:rPr>
              <a:t>Source: gol.gg</a:t>
            </a:r>
          </a:p>
        </p:txBody>
      </p:sp>
    </p:spTree>
    <p:extLst>
      <p:ext uri="{BB962C8B-B14F-4D97-AF65-F5344CB8AC3E}">
        <p14:creationId xmlns:p14="http://schemas.microsoft.com/office/powerpoint/2010/main" val="3261395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D7449F-F59F-0F24-598D-5EC2FC2EC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6000" dirty="0">
                <a:ln>
                  <a:solidFill>
                    <a:schemeClr val="tx1"/>
                  </a:solidFill>
                </a:ln>
                <a:solidFill>
                  <a:srgbClr val="79D9F8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Bebas Neue" panose="020B0606020202050201" pitchFamily="34" charset="0"/>
              </a:rPr>
              <a:t>Thank you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2380383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</TotalTime>
  <Words>453</Words>
  <Application>Microsoft Office PowerPoint</Application>
  <PresentationFormat>Widescreen</PresentationFormat>
  <Paragraphs>86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Bebas Neue</vt:lpstr>
      <vt:lpstr>Montserrat</vt:lpstr>
      <vt:lpstr>Oswald</vt:lpstr>
      <vt:lpstr>Roboto Condensed</vt:lpstr>
      <vt:lpstr>Office Theme</vt:lpstr>
      <vt:lpstr>The Power of 900 Seconds</vt:lpstr>
      <vt:lpstr>Why?</vt:lpstr>
      <vt:lpstr>What is league of legends?</vt:lpstr>
      <vt:lpstr>What’s being explored?</vt:lpstr>
      <vt:lpstr>Modelling</vt:lpstr>
      <vt:lpstr>Modelling Part 2</vt:lpstr>
      <vt:lpstr>My Predictions</vt:lpstr>
      <vt:lpstr>Interesting Matches</vt:lpstr>
      <vt:lpstr>Example #1</vt:lpstr>
      <vt:lpstr>example #2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Newcombe</dc:creator>
  <cp:lastModifiedBy>Christian Newcombe</cp:lastModifiedBy>
  <cp:revision>9</cp:revision>
  <dcterms:created xsi:type="dcterms:W3CDTF">2025-12-04T10:29:08Z</dcterms:created>
  <dcterms:modified xsi:type="dcterms:W3CDTF">2025-12-05T14:35:19Z</dcterms:modified>
</cp:coreProperties>
</file>